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Bellwood Networks spent $1.68M on training last year. Only half of it produced a completed course. This deck traces where the money went and tests whether management's 80% target can actually be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Analytics Project</a:t>
            </a:r>
            <a:endParaRPr lang="en-US" sz="13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Budget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Effectiveness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2697480"/>
            <a:ext cx="1371600" cy="41148"/>
          </a:xfrm>
          <a:prstGeom prst="rect">
            <a:avLst/>
          </a:prstGeom>
          <a:solidFill>
            <a:srgbClr val="1D2A3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8895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Tracing $1.68M of training spend and testing whether the 80% effectiveness target is reachable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Networks, Inc.  |  Deleonard Simanjorang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Company !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1521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Are We?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3504" y="1417320"/>
            <a:ext cx="3685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 is a telecommunications infrastructure contractor headquartered in Massachusetts, building and maintaining fiber, cable and wireless networks — aerial and underground construction, splicing, CATV and wireless site work — for carrier and municipal clients.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2670048"/>
            <a:ext cx="3977640" cy="1783080"/>
          </a:xfrm>
          <a:prstGeom prst="roundRect">
            <a:avLst>
              <a:gd name="adj" fmla="val 3077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77063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Training Matters Here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" y="3035808"/>
            <a:ext cx="368503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3,000 employees, two-thirds of them in field production roles.</a:t>
            </a: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endParaRPr lang="en-US" sz="8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Crews work on live utility infrastructure, so certification currency decides whether a crew can legally be dispatched. An incomplete course is not a missed development opportunity — it is a crew member who cannot be deployed.</a:t>
            </a:r>
            <a:endParaRPr lang="en-US" sz="850" dirty="0"/>
          </a:p>
        </p:txBody>
      </p:sp>
      <p:pic>
        <p:nvPicPr>
          <p:cNvPr id="10" name="Image 1" descr="/sessions/gifted-fervent-johnson/mnt/bellwood-hr-governance-analytics/deck/assets/chart_head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3977640" cy="2651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0416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employee master, 3,000 records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33272"/>
            <a:ext cx="4005072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13385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3504" y="1399032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spent $1,675,886 on 3,000 training sessions in FY22–23. Only 50.6% produced a completed course. Management targets 80% within 6 months.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81728" y="1033272"/>
            <a:ext cx="4005072" cy="1051560"/>
          </a:xfrm>
          <a:prstGeom prst="roundRect">
            <a:avLst>
              <a:gd name="adj" fmla="val 5217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8032" y="113385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found first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28032" y="1399032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43.9% of all training records ($735,145) carry dates that are impossible against the employee's own employment period.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203704"/>
            <a:ext cx="4005072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23042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 number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3504" y="2569464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$492,343 — 29.4% of the budget — is fully defensible: plausibly recorded and completed.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81728" y="2203704"/>
            <a:ext cx="4005072" cy="1051560"/>
          </a:xfrm>
          <a:prstGeom prst="roundRect">
            <a:avLst>
              <a:gd name="adj" fmla="val 5217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3042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not explain it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28032" y="2569464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of six tested drivers show no effect. Cost, duration, tenure, department and delivery type are all unrelated to completion.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3374136"/>
            <a:ext cx="4005072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347472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target is unreachable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3504" y="3739896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available lever combined moves effectiveness from 50.6% to 53.4% — closing 3 of the 29.4 points required.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81728" y="3374136"/>
            <a:ext cx="4005072" cy="1051560"/>
          </a:xfrm>
          <a:prstGeom prst="roundRect">
            <a:avLst>
              <a:gd name="adj" fmla="val 5217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347472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recommend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28032" y="3739896"/>
            <a:ext cx="3712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actions addressing $768,304 (45.8%) of the budget, a replacement KPI set, and a staged target to replace the 80% figure.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cannot account for $735,145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training budget governance is a financial priority</a:t>
            </a:r>
            <a:endParaRPr lang="en-US" sz="1050" dirty="0"/>
          </a:p>
        </p:txBody>
      </p:sp>
      <p:pic>
        <p:nvPicPr>
          <p:cNvPr id="4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42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the $1,675,886 spent on training last year, 43.9% sits on records whose dates cannot be true — sessions booked for employees who had already left, or who had not yet been hired.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$1.68M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20299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training budget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FY Aug 2022 – Aug 2023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514600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50.6%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514600" y="20299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effectiveness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$847,484 completed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0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$735,145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0" y="20299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impossible records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1,317 of 3,000 sessions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29400" y="15727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29.4%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629400" y="20299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defensible spend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$492,343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Budget segment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Amount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Share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Plausibly recorded and completed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$492,343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29.4%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Plausibly recorded, not completed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$448,398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26.8%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Impossible date, recorded as completed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$355,140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21.2%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Impossible date, not completed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$380,004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22.7%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806440" y="269748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52744" y="279806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explanations, both serious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952744" y="3063240"/>
            <a:ext cx="2587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 money genuinely left the company, this is real leakage. If it is a recording error, then the $1.68M reported to the board is wrong and every L&amp;D report must be restated.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figures derived from 3,000 training records joined to the employee master. See Appendix B for source queries.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Analytics Project</a:t>
            </a:r>
            <a:endParaRPr lang="en-US" sz="13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3310128"/>
            <a:ext cx="1371600" cy="41148"/>
          </a:xfrm>
          <a:prstGeom prst="rect">
            <a:avLst/>
          </a:prstGeom>
          <a:solidFill>
            <a:srgbClr val="3C78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Networks, Inc.  |  Deleonard Simanjorang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driving this? — Project Background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4" name="Image 1" descr="/sessions/gifted-fervent-johnson/mnt/bellwood-hr-governance-analytics/deck/assets/chart_trend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880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041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budget effectiveness, Aug 2022 – Jul 2023</a:t>
            </a:r>
            <a:endParaRPr lang="en-US" sz="800" dirty="0"/>
          </a:p>
        </p:txBody>
      </p:sp>
      <p:sp>
        <p:nvSpPr>
          <p:cNvPr id="6" name="Shape 2"/>
          <p:cNvSpPr/>
          <p:nvPr/>
        </p:nvSpPr>
        <p:spPr>
          <a:xfrm>
            <a:off x="4800600" y="1097280"/>
            <a:ext cx="3886200" cy="1371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946904" y="119786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situation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946904" y="1463040"/>
            <a:ext cx="3593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effectiveness has sat between 44.3% and 58.9% for twelve straight months. The downward drift is not statistically significant (p = 0.087) — this is a stable state, not a decline.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800600" y="2606040"/>
            <a:ext cx="3886200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46904" y="270662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that matters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946904" y="2971800"/>
            <a:ext cx="3593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is no incident, vendor change or quarter to point at. A problem that has been steady for a year cannot be fixed by a one-off remediation — it points to a missing control.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Goals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24128"/>
            <a:ext cx="4005072" cy="1481328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12471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" y="1389888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spent $1,675,886 on training with only 50.6% effectiveness. No one can explain where the money goes or which levers would move the number, and next year's budget is due for approval.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81728" y="1024128"/>
            <a:ext cx="4005072" cy="1481328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8032" y="112471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Objective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28032" y="1389888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where the training budget is lost and determine which levers can raise effectiveness from 50.6% toward the 80% target within 6 months, measured through a Power BI monitoring dashboard.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4005072" cy="1572768"/>
          </a:xfrm>
          <a:prstGeom prst="roundRect">
            <a:avLst>
              <a:gd name="adj" fmla="val 3488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275234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Scope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" y="3017520"/>
            <a:ext cx="3712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3,000 training records (Aug 2022 – Aug 2023) joined to the employee master for status and date validation.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Drivers tested: programme, delivery type, tenure, duration, cost, department.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81728" y="2651760"/>
            <a:ext cx="4005072" cy="1572768"/>
          </a:xfrm>
          <a:prstGeom prst="roundRect">
            <a:avLst>
              <a:gd name="adj" fmla="val 348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75234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28032" y="3017520"/>
            <a:ext cx="3712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ROI against job performance — the system records cost and completion only, with no before/after measurement.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used: PostgreSQL (extraction), Python (preparation, statistical testing), Power BI (monitoring).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analytics project lifecycle — from business problem to business impact</a:t>
            </a:r>
            <a:endParaRPr lang="en-US" sz="1050" dirty="0"/>
          </a:p>
        </p:txBody>
      </p:sp>
      <p:pic>
        <p:nvPicPr>
          <p:cNvPr id="4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" y="12984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C78D8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2984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12984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3504" y="16824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problem, SMART objective, stakeholders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2258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 —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319272" y="1170432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65576" y="12984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C78D8"/>
          </a:solidFill>
          <a:ln/>
        </p:spPr>
      </p:sp>
      <p:sp>
        <p:nvSpPr>
          <p:cNvPr id="13" name="Text 10"/>
          <p:cNvSpPr/>
          <p:nvPr/>
        </p:nvSpPr>
        <p:spPr>
          <a:xfrm>
            <a:off x="3465576" y="12984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59352" y="12984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Discovery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465576" y="16824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datasets, map sources, validate reliability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65576" y="2258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 Python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181344" y="1170432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27648" y="12984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C78D8"/>
          </a:solidFill>
          <a:ln/>
        </p:spPr>
      </p:sp>
      <p:sp>
        <p:nvSpPr>
          <p:cNvPr id="19" name="Text 16"/>
          <p:cNvSpPr/>
          <p:nvPr/>
        </p:nvSpPr>
        <p:spPr>
          <a:xfrm>
            <a:off x="6327648" y="12984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21424" y="12984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327648" y="16824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Extract, clean, standardise, engineer features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27648" y="2258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 SQL · Python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57200" y="2798064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" y="292608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C78D8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" y="292608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97280" y="29260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3504" y="3310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EDA, anomaly detection, hypothesis testing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3504" y="3886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 Python · SQL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319272" y="2798064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65576" y="292608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C78D8"/>
          </a:solidFill>
          <a:ln/>
        </p:spPr>
      </p:sp>
      <p:sp>
        <p:nvSpPr>
          <p:cNvPr id="31" name="Text 28"/>
          <p:cNvSpPr/>
          <p:nvPr/>
        </p:nvSpPr>
        <p:spPr>
          <a:xfrm>
            <a:off x="3465576" y="292608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959352" y="29260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465576" y="3310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Visualisation, storytelling, dashboard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65576" y="3886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 Power BI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181344" y="2798064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27648" y="292608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C78D8"/>
          </a:solidFill>
          <a:ln/>
        </p:spPr>
      </p:sp>
      <p:sp>
        <p:nvSpPr>
          <p:cNvPr id="37" name="Text 34"/>
          <p:cNvSpPr/>
          <p:nvPr/>
        </p:nvSpPr>
        <p:spPr>
          <a:xfrm>
            <a:off x="6327648" y="292608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821424" y="29260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327648" y="3310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Recommendations, KPI tracking, business impact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7648" y="3886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 —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Analytics Project</a:t>
            </a:r>
            <a:endParaRPr lang="en-US" sz="13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Dive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3310128"/>
            <a:ext cx="1371600" cy="41148"/>
          </a:xfrm>
          <a:prstGeom prst="rect">
            <a:avLst/>
          </a:prstGeom>
          <a:solidFill>
            <a:srgbClr val="3C78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Networks, Inc.  |  Deleonard Simanjorang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data tell us? — Where the budget went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4" name="Image 1" descr="/sessions/gifted-fervent-johnson/mnt/bellwood-hr-governance-analytics/05_communication/figures/02_budget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251960" cy="22402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09160" y="1170432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855464" y="1271016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855464" y="1536192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$492,343 (29.4%) of the $1.68M budget is fully defensible — plausibly recorded and completed. The remaining 70.6% fails at least one of the two tests.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709160" y="2871216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55464" y="297180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855464" y="3236976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headline effectiveness rate of 50.6% overstates what can actually be justified, because it only tests completion. Cross-tabulating completion against record integrity halves the defensible figure.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data tell us? — Record integrity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4" name="Image 1" descr="/sessions/gifted-fervent-johnson/mnt/bellwood-hr-governance-analytics/05_communication/figures/05_post_exit_anoma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51960" cy="2148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09160" y="1170432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855464" y="1271016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855464" y="1536192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1,029 sessions ($574,242) are dated after the employee's exit — a median of 358 days after, with the furthest case 1,677 days (4.6 years). A further 288 sessions predate the employee's hire date.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709160" y="2871216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55464" y="297180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855464" y="3236976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enrolment system never checks employment status. One employee who left in November 2018 is recorded as attending a course in July 2023 and passing it.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data tell us? — Programme performance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4" name="Image 1" descr="/sessions/gifted-fervent-johnson/mnt/bellwood-hr-governance-analytics/05_communication/figures/03_effectiveness_by_pro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51960" cy="2148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09160" y="1170432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855464" y="1271016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855464" y="1536192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Skills is the weakest programme at 43.7% while absorbing $323,073. The best performer, Communication Skills, reaches only 54.0%. The whole portfolio spans just 10 points.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709160" y="2871216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55464" y="297180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855464" y="3236976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 choice is statistically significant (p = 0.002) but the effect is weak (Cramér's V = 0.075). Even the best programme sits 26 points below target — no reshuffle of the portfolio reaches 80%.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data tell us? — Drivers tested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of six candidate drivers show no relationship with completion</a:t>
            </a:r>
            <a:endParaRPr lang="en-US" sz="1050" dirty="0"/>
          </a:p>
        </p:txBody>
      </p:sp>
      <p:pic>
        <p:nvPicPr>
          <p:cNvPr id="4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53492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22960"/>
                <a:gridCol w="1005840"/>
                <a:gridCol w="100584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Hypothesis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p-value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Effect size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Verdict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Programme drives completion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0.002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 = 0.075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844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Supported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Budget leaks to departing employees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0.008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$857,430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844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Supported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External training is less effective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0.101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 = 0.030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Rejected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Shorter tenure lowers completion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0.123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 = −0.027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Rejected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Longer courses are less completed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0.445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 = 0.014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Rejected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Costlier training is more completed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0.480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 = 0.011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6666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Rejected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17043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81344" y="127101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rules out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181344" y="153619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Expensive training is not completed more often than cheap training. Five-day courses fare no worse than one-day courses. New hires complete at the same rate as veterans.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81344" y="288950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means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181344" y="3154680"/>
            <a:ext cx="23591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intuitive explanation was tested and failed. The failure is systemic, not confined to any programme, vendor or employee group.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Chi-square for categorical drivers, Mann-Whitney U for numeric. Full census, n = 3,000.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we actually reach 80%?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Sizing every available lever against the 29.4-point gap</a:t>
            </a:r>
            <a:endParaRPr lang="en-US" sz="1050" dirty="0"/>
          </a:p>
        </p:txBody>
      </p:sp>
      <p:pic>
        <p:nvPicPr>
          <p:cNvPr id="4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5" name="Image 1" descr="/sessions/gifted-fervent-johnson/mnt/bellwood-hr-governance-analytics/05_communication/figures/01_gap_to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160520" cy="242316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34440"/>
          <a:ext cx="39776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Lever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Reaches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Gap closed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Baseline today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50.6%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Shift all sessions to best programme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54.0%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+3.5 pp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Stop all 1,317 invalid-date sessions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52.3%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+1.8 pp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Both levers combined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53.4%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+2.8 pp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Remaining gap to 80%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26.6 pp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4709160" y="306324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855464" y="316382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honest conclusion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855464" y="3429000"/>
            <a:ext cx="3685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26.6 of the 29.4 points cannot be explained by any variable the L&amp;D system captures. The residual lies in factors never recorded: instructor quality, course relevance, and participant workload.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 we track progress?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budget monitoring dashboard — Power BI</a:t>
            </a:r>
            <a:endParaRPr lang="en-US" sz="1050" dirty="0"/>
          </a:p>
        </p:txBody>
      </p:sp>
      <p:pic>
        <p:nvPicPr>
          <p:cNvPr id="4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5" name="Image 1" descr="/sessions/gifted-fervent-johnson/mnt/bellwood-hr-governance-analytics/deck/assets/dashboard_m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577840" cy="30815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3640" y="1051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Cards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263640" y="127101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Integrity Rate, Completion Rate and Leakage Value, each against its 6-month target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263640" y="18379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Flow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263640" y="205740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Four-way split by record integrity and completion, surfacing the $492,343 defensible core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263640" y="2624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 View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263640" y="284378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Effectiveness and spend per programme against the 80% reference line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263640" y="3410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Line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63640" y="36301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effectiveness with target and average reference lines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goal: make the leakage visible instead of letting a single effectiveness percentage conceal it.   |   Design mockup — Power BI build in progress.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Analytics Project</a:t>
            </a:r>
            <a:endParaRPr lang="en-US" sz="13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3310128"/>
            <a:ext cx="1371600" cy="41148"/>
          </a:xfrm>
          <a:prstGeom prst="rect">
            <a:avLst/>
          </a:prstGeom>
          <a:solidFill>
            <a:srgbClr val="3C78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Networks, Inc.  |  Deleonard Simanjorang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1 — Enrolment Control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060704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" y="1325880"/>
            <a:ext cx="7936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1,029 sessions ($574,242) recorded for employees who had already left, and 288 sessions ($160,903) for employees not yet hired. The enrolment system never checks employment status.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4005072" cy="1572768"/>
          </a:xfrm>
          <a:prstGeom prst="roundRect">
            <a:avLst>
              <a:gd name="adj" fmla="val 3488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185623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Happens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3504" y="2121408"/>
            <a:ext cx="3712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No validation rule linking training date to the employment period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Enrolment and HRIS run as separate systems with no status handshake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Completion can be recorded by a third party without the employee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4005072" cy="960120"/>
          </a:xfrm>
          <a:prstGeom prst="roundRect">
            <a:avLst>
              <a:gd name="adj" fmla="val 5714"/>
            </a:avLst>
          </a:prstGeom>
          <a:solidFill>
            <a:srgbClr val="FDF0EF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57530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if Unaddressed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" y="3840480"/>
            <a:ext cx="3712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company keeps paying for training on behalf of people who left years ago, and every budget figure reported to the board stays unverifiable.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81728" y="1755648"/>
            <a:ext cx="4005072" cy="2679192"/>
          </a:xfrm>
          <a:prstGeom prst="roundRect">
            <a:avLst>
              <a:gd name="adj" fmla="val 204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185623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28032" y="2121408"/>
            <a:ext cx="371246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 Hard validation rule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 any enrolment where the training date falls outside hire-to-exit.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Tool: system-level constraint in the L&amp;D platform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 Nightly status sync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HRIS pushes active-employee status daily, so exits propagate within 24 hours.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Head of L&amp;D + HRIS      Deadline: 30 days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secured: $735,145 per year (43.9% of budget)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2 — Replace the KPI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060704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" y="1325880"/>
            <a:ext cx="7936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Stopping all $735,145 of invalid spend raises measured effectiveness by only 1.8 percentage points. The single largest available saving barely registers on the metric management is targeting.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4005072" cy="1371600"/>
          </a:xfrm>
          <a:prstGeom prst="roundRect">
            <a:avLst>
              <a:gd name="adj" fmla="val 4000"/>
            </a:avLst>
          </a:prstGeom>
          <a:solidFill>
            <a:srgbClr val="FDF0EF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185623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Measurement Trap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3504" y="2121408"/>
            <a:ext cx="3712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could hit a good-looking effectiveness number while the leakage continues undetected. The KPI actively conceals the problem it was meant to surface.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4005072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34670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" y="3611880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the single effectiveness percentage as a target. Keep it on the report for historical comparison, but stop setting targets against it.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CFO + Head of L&amp;D    Deadline: 30 days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81728" y="17556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replacement metrics that cannot mask one another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81728" y="2121408"/>
            <a:ext cx="4005072" cy="676656"/>
          </a:xfrm>
          <a:prstGeom prst="roundRect">
            <a:avLst>
              <a:gd name="adj" fmla="val 810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218541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Integrity Rate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28032" y="242316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56.1%</a:t>
            </a:r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→    target </a:t>
            </a:r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</a:t>
            </a:r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owner: HRIS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81728" y="2898648"/>
            <a:ext cx="4005072" cy="676656"/>
          </a:xfrm>
          <a:prstGeom prst="roundRect">
            <a:avLst>
              <a:gd name="adj" fmla="val 8108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296265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Completion Rate (valid records)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28032" y="32004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51.9%</a:t>
            </a:r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→    target </a:t>
            </a:r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owner: Head of L&amp;D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81728" y="3675888"/>
            <a:ext cx="4005072" cy="676656"/>
          </a:xfrm>
          <a:prstGeom prst="roundRect">
            <a:avLst>
              <a:gd name="adj" fmla="val 8108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373989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Leakage Value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8032" y="39776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$735,145</a:t>
            </a:r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→    target </a:t>
            </a:r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$50,000</a:t>
            </a:r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owner: CFO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 3 &amp; 4 — Clean the Baseline, Fix the Weakest Programme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78992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17957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Audit the 1,317 Historical Records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" y="1444752"/>
            <a:ext cx="37124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current baseline is calculated from data where 43.9% of records are internally inconsistent. Any target set on top of this rests on a false foundation.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all flagged records against invoices and attendance registers, classify each as recording error or genuine payment, then restate the fiscal-year baseline.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816352"/>
            <a:ext cx="4005072" cy="960120"/>
          </a:xfrm>
          <a:prstGeom prst="roundRect">
            <a:avLst>
              <a:gd name="adj" fmla="val 5714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291693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3504" y="3182112"/>
            <a:ext cx="3712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Produces a defensible baseline the board can be shown.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3886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HRIS + Finance      Deadline: 60 days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81728" y="1078992"/>
            <a:ext cx="4005072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17957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Redesign or Retire Technical Skills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1444752"/>
            <a:ext cx="37124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Skills absorbs $323,073 at 43.7% effectiveness — the lowest of five programmes and 10 points below the best performer.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the course design and delivery format. If it fails to reach the portfolio average across two cycles, reallocate the budget.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81728" y="2816352"/>
            <a:ext cx="4005072" cy="960120"/>
          </a:xfrm>
          <a:prstGeom prst="roundRect">
            <a:avLst>
              <a:gd name="adj" fmla="val 5714"/>
            </a:avLst>
          </a:prstGeom>
          <a:solidFill>
            <a:srgbClr val="FDF0EF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291693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Stated Honestly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28032" y="3182112"/>
            <a:ext cx="37124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 size is weak (V = 0.075). Optimising the whole portfolio adds roughly 3 points. Worth doing — but not the main lever.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28032" y="3886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Head of L&amp;D  ·  90 days  ·  $33,159/year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 5 &amp; 6 — Collect What's Missing, Reset the Target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78992"/>
            <a:ext cx="4005072" cy="1874520"/>
          </a:xfrm>
          <a:prstGeom prst="roundRect">
            <a:avLst>
              <a:gd name="adj" fmla="val 2927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17957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Record the Three Missing Factors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" y="1444752"/>
            <a:ext cx="37124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testing every captured variable, 26.6 of the 29.4-point gap remains unexplained. Add three mandatory fields: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 Standardised instructor ID — currently 2,942 unique trainer names across 3,000 sessions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 Course relevance rating from the participant at completion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 Manager approval and participant workload flag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3090672"/>
            <a:ext cx="4005072" cy="822960"/>
          </a:xfrm>
          <a:prstGeom prst="roundRect">
            <a:avLst>
              <a:gd name="adj" fmla="val 6667"/>
            </a:avLst>
          </a:prstGeom>
          <a:solidFill>
            <a:srgbClr val="FDF0EF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" y="319125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if Unaddressed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3504" y="345643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year's analysis reaches the same dead end, after another $1.6M is spent.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4023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Head of L&amp;D      Deadline: 90 days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81728" y="1078992"/>
            <a:ext cx="4005072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17957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· Renegotiate the 80% Target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1444752"/>
            <a:ext cx="3712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every available lever reaches 53.4%. The 80% target has no evidenced path. An unreachable target cascaded to L&amp;D invites metric manipulation rather than improvement.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2450592"/>
          <a:ext cx="40050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313432"/>
                <a:gridCol w="822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Horizon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Staged target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Lever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 months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Budget Integrity 56.1% → 95%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R1, R3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 months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Completion (valid) 51.9% → 60%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 months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Reset effectiveness target on new data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D2A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R5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828032" y="4023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CFO      Deadline: 14 days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Analytics Project</a:t>
            </a:r>
            <a:endParaRPr lang="en-US" sz="13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3310128"/>
            <a:ext cx="1371600" cy="41148"/>
          </a:xfrm>
          <a:prstGeom prst="rect">
            <a:avLst/>
          </a:prstGeom>
          <a:solidFill>
            <a:srgbClr val="3C78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Networks, Inc.  |  Deleonard Simanjorang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Next Steps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cannot account for 43.9% of its training budget. Six actions address $768,304 — 45.8% of annual spend — but the 80% target itself needs restating.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57200" y="1481328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3504" y="199339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control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" y="2313432"/>
            <a:ext cx="16733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validation rule stops $735,145 of unaccountable spend. Largest number, lowest difficulty.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03504" y="329184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days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78608" y="1481328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24912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724912" y="199339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metric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24912" y="2313432"/>
            <a:ext cx="16733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KPIs replace one. The current metric hides the biggest problem.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724912" y="329184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days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00016" y="1481328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846320" y="199339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target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46320" y="2313432"/>
            <a:ext cx="16733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53.4% is the evidenced ceiling. Stage the target against real levers.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846320" y="329184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days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821424" y="1481328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67728" y="1600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967728" y="199339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data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67728" y="2313432"/>
            <a:ext cx="16733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26.6 points stay dark until instructor, relevance and workload are recorded.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967728" y="329184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 days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776472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" y="3877056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the ROI?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3504" y="4142232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$768,304 addressed (45.8% of budget)     |     Budget Integrity 56.1% → 95%     |     Leakage $735,145 → under $50,000     |     Monitored via Power BI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D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fervent-johnson/mnt/bellwood-hr-governance-analytics/deck/assets/logo_bellwoo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143000"/>
            <a:ext cx="256032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1031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37160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Budget Effectiveness Analysis  ·  Bellwood Networks, Inc.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417320" y="376732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/sessions/gifted-fervent-johnson/mnt/bellwood-hr-governance-analytics/deck/assets/icon_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81304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37944" y="37581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&amp; Phone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837944" y="3922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+62 812 4154 4992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794760" y="376732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/sessions/gifted-fervent-johnson/mnt/bellwood-hr-governance-analytics/deck/assets/icon_linked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8130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15384" y="37581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215384" y="3922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Deleonard Simanjorang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6172200" y="376732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/sessions/gifted-fervent-johnson/mnt/bellwood-hr-governance-analytics/deck/assets/icon_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1304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92824" y="37581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6592824" y="3922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deleonard20@gmail.com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Analytics Project</a:t>
            </a:r>
            <a:endParaRPr lang="en-US" sz="13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3310128"/>
            <a:ext cx="1371600" cy="41148"/>
          </a:xfrm>
          <a:prstGeom prst="rect">
            <a:avLst/>
          </a:prstGeom>
          <a:solidFill>
            <a:srgbClr val="3C78D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Bellwood Networks, Inc.  |  Deleonard Simanjorang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 — References &amp; Data Source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4005072" cy="1828800"/>
          </a:xfrm>
          <a:prstGeom prst="roundRect">
            <a:avLst>
              <a:gd name="adj" fmla="val 3000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119786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" y="1463040"/>
            <a:ext cx="37124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Analytics dataset (public, Kaggle)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Files: 4 CSV — employee master, training &amp; development, engagement survey, recruitment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Records: 3,000 per file, employee ID range 1001–4000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window: 5 Aug 2022 – 5 Aug 2023 (365 days)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Coverage: full census, one training record per employee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81728" y="1097280"/>
            <a:ext cx="4005072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8032" y="119786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Methods Applied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28032" y="1463040"/>
            <a:ext cx="37124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Chi-square test of independence with Cramér's V (categorical drivers)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Mann-Whitney U and point-biserial correlation (numeric drivers)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 on the monthly series (trend significance)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logic validation against employment period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modelling for lever sizing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163824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Excluded Fields and Why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" y="3429000"/>
            <a:ext cx="79369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Trainer (2,942 unique values across 3,000 rows) and Location (2,738) are near-unique per row and form no analysable groups.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 (2,952 unique across 3,000 employees) yields no usable hierarchy.  LocationCode (2,821) behaves as a random identifier.</a:t>
            </a:r>
            <a:endParaRPr lang="en-US" sz="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recruitment_data.csv shares the same ID range but 0 of 3,000 names and 0 of 636 job titles match — a separate population, never joined.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Disclaimer: Bellwood Networks, Inc. is a fictional company created for this portfolio project. All figures are derived from the public dataset and do not represent a real business.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B — Key SQL Queries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queries used for extraction and analysis</a:t>
            </a:r>
            <a:endParaRPr lang="en-US" sz="1050" dirty="0"/>
          </a:p>
        </p:txBody>
      </p:sp>
      <p:pic>
        <p:nvPicPr>
          <p:cNvPr id="4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4005072" cy="2331720"/>
          </a:xfrm>
          <a:prstGeom prst="roundRect">
            <a:avLst>
              <a:gd name="adj" fmla="val 2353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126187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 Temporal logic violations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3504" y="1517904"/>
            <a:ext cx="37124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CASE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e.exit_date IS NOT NULL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t.training_date &gt; e.exit_date THEN 'after_exit'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t.training_date &lt; e.start_date THEN 'before_hire'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'valid' END AS date_validity,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COUNT(*), ROUND(SUM(t.training_cost),2)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hr.training_records t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hr.employees e ON e.emp_id = t.employee_id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1;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81728" y="1170432"/>
            <a:ext cx="4005072" cy="2331720"/>
          </a:xfrm>
          <a:prstGeom prst="roundRect">
            <a:avLst>
              <a:gd name="adj" fmla="val 2353"/>
            </a:avLst>
          </a:prstGeom>
          <a:solidFill>
            <a:srgbClr val="F6F8FB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126187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 Budget effectiveness by programme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28032" y="1517904"/>
            <a:ext cx="37124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t.training_program_name,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sessions,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ROUND(SUM(t.training_cost),2) AS spend,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 * SUM(t.training_cost)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 (WHERE t.training_outcome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 ('Completed','Passed'))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SUM(t.training_cost),1) AS effectiveness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hr.training_records t</a:t>
            </a:r>
            <a:endParaRPr lang="en-US" sz="7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D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1 ORDER BY effectiveness;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3803904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query set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" y="4069080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Extraction, data-quality checks, budget breakdowns and KPI baselines: 04_analysis/sql/training_spend_analysis.sql   ·   Statistical testing: 04_analysis/statistical_analysis/training_effectiveness_analysis.py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C — About the Analyst</a:t>
            </a:r>
            <a:endParaRPr lang="en-US" sz="2100" dirty="0"/>
          </a:p>
        </p:txBody>
      </p:sp>
      <p:pic>
        <p:nvPicPr>
          <p:cNvPr id="3" name="Image 0" descr="/sessions/gifted-fervent-johnson/mnt/bellwood-hr-governance-analytics/deck/assets/logo_bellw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46304"/>
            <a:ext cx="1783080" cy="557784"/>
          </a:xfrm>
          <a:prstGeom prst="rect">
            <a:avLst/>
          </a:prstGeom>
        </p:spPr>
      </p:pic>
      <p:pic>
        <p:nvPicPr>
          <p:cNvPr id="4" name="Image 1" descr="/sessions/gifted-fervent-johnson/mnt/bellwood-hr-governance-analytics/deck/assets/analyst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2103120" cy="28254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0" y="10972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Deleonard Simanjorang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657600" y="14081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Analyst  |  People &amp; HR Analytics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3657600" y="1700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 in HR and business operations, working in data analytics with a focus on workforce analytics, people analytics and operational efficiency.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3657600" y="2240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Skills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657600" y="245973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(PostgreSQL, MySQL, BigQuery)  ·  Python  ·  Power BI  ·  Tableau  ·  Excel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657600" y="29900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Certifications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657600" y="320954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Intelligence Analyst — Digital Skola (2026)</a:t>
            </a:r>
            <a:endParaRPr lang="en-US" sz="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Stack Data Analytics — RevoU (2025)</a:t>
            </a:r>
            <a:endParaRPr lang="en-US" sz="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Excel Mastery — Digital Skola (2026)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0" y="3739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57600" y="39593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LinkedIn: Deleonard Simanjorang   ·   GitHub: github.com/deleonard20</a:t>
            </a:r>
            <a:endParaRPr lang="en-US" sz="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1D2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Email: deleonard20@gmail.com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Budget Effectiveness Analysis — Bellwood Networks</dc:title>
  <dc:subject>PptxGenJS Presentation</dc:subject>
  <dc:creator>Deleonard Simanjorang</dc:creator>
  <cp:lastModifiedBy>Deleonard Simanjorang</cp:lastModifiedBy>
  <cp:revision>1</cp:revision>
  <dcterms:created xsi:type="dcterms:W3CDTF">2026-08-07T08:36:18Z</dcterms:created>
  <dcterms:modified xsi:type="dcterms:W3CDTF">2026-08-07T08:36:18Z</dcterms:modified>
</cp:coreProperties>
</file>